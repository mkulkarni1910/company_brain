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360000">
            <a:off x="-914400" y="4297680"/>
            <a:ext cx="14630400" cy="2926080"/>
          </a:xfrm>
          <a:prstGeom prst="rect">
            <a:avLst/>
          </a:prstGeom>
          <a:solidFill>
            <a:srgbClr val="09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0A0E6"/>
                </a:solidFill>
                <a:latin typeface="Segoe UI"/>
              </a:rPr>
              <a:t>MICROSOFT  ·  AZURE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Segoe UI Light"/>
              </a:rPr>
              <a:t>SubStrateOS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50A0E6"/>
                </a:solidFill>
                <a:latin typeface="Segoe UI Light"/>
              </a:rPr>
              <a:t>Enterprise intelligence layer on Microsoft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94760"/>
            <a:ext cx="2011680" cy="45720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Segoe UI"/>
              </a:rPr>
              <a:t>Architecture deep dive — a Glean-class Zone 4 intelligence layer on Azure.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0A0E6"/>
                </a:solidFill>
                <a:latin typeface="Segoe UI"/>
              </a:rPr>
              <a:t>FOR THE TECHNICAL REVIEW 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System topology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Next.js 14 Web Chat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MSAL · Entra SSO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0B2146"/>
          </a:solidFill>
          <a:ln w="12700">
            <a:solidFill>
              <a:srgbClr val="0B2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Azure Container Apps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ingress (HTTPS + JWT)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880360"/>
            <a:ext cx="0" cy="50292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1737360"/>
            <a:ext cx="4572000" cy="4206240"/>
          </a:xfrm>
          <a:prstGeom prst="roundRect">
            <a:avLst/>
          </a:prstGeom>
          <a:solidFill>
            <a:srgbClr val="ECF2FB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146"/>
                </a:solidFill>
                <a:latin typeface="Segoe UI"/>
              </a:rPr>
              <a:t>substrateos-api  ·  FastAPI (Python 3.12)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B82"/>
                </a:solidFill>
                <a:latin typeface="Segoe UI"/>
              </a:rPr>
              <a:t>Zone 4 intelligence layer — modular monolith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6060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791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Semantic Kernel orchestrator  /query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136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Hybrid retriever  (RRF)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5204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935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Personalized ranker  (multi-signal)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977639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050791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Live Fetch  (Graph /search)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4348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5079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ACL recheck  (fail-closed)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8920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651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Generation  (Gemini 2.5 Pro + citations)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349240"/>
            <a:ext cx="4114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422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01A2E"/>
                </a:solidFill>
                <a:latin typeface="Segoe UI"/>
              </a:rPr>
              <a:t>Admin · ingest · connectors · MCP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00400" y="3794760"/>
            <a:ext cx="822960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18320" y="173736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28048" y="1865376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184708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Azure AI Search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377439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28048" y="2505456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24871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Cosmos DB (Gremlin)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01752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145536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57232" y="31272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Azure Data Explorer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365760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28048" y="3785615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57232" y="3767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Azure OpenAI · embeddings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429768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28048" y="4425696"/>
            <a:ext cx="237744" cy="237744"/>
          </a:xfrm>
          <a:prstGeom prst="round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7232" y="4407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Gemini 2.5 Pro / Flash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493776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28048" y="5065776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57232" y="504748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Redis · Key Vault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5577840"/>
            <a:ext cx="23317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528048" y="5705856"/>
            <a:ext cx="237744" cy="237744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57232" y="56875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146"/>
                </a:solidFill>
                <a:latin typeface="Segoe UI"/>
              </a:rPr>
              <a:t>Microsoft Graph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95360" y="3840480"/>
            <a:ext cx="777240" cy="0"/>
          </a:xfrm>
          <a:prstGeom prst="line">
            <a:avLst/>
          </a:prstGeom>
          <a:ln w="31750">
            <a:solidFill>
              <a:srgbClr val="00B7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B82"/>
                </a:solidFill>
                <a:latin typeface="Segoe UI"/>
              </a:rPr>
              <a:t>DefaultAzureCredential → user-assigned managed identity (no secrets in code). OpenTelemetry → Application Insights, one trace per request.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ORCHESTRATION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Request lifecycle — POST /query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92024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0482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Resolve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Entra JWT / Easy-Auth / PAT → tenant + groups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6424" y="248716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3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56032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6883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97479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Semantic Kernel classifies intent (Gemini 2.5 Flash)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6424" y="312724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2960" y="32004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0098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320040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3284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375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Hybrid search + People proximity + Activity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06424" y="376732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384048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4106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384048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39684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Live Fetch?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9776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Freshness trigger → Microsoft Graph /search merge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06424" y="440740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22960" y="448056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8114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448056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46085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ACL recheck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6177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Re-verify access per candidate · fail-closed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06424" y="504748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2122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00200" y="512064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5248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Rank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2578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RRF + weighted signals → ordered context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06424" y="5687568"/>
            <a:ext cx="0" cy="77724"/>
          </a:xfrm>
          <a:prstGeom prst="line">
            <a:avLst/>
          </a:prstGeom>
          <a:ln w="25400">
            <a:solidFill>
              <a:srgbClr val="50A0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22960" y="576072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86130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00200" y="5760720"/>
            <a:ext cx="9784080" cy="566928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58887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2146"/>
                </a:solidFill>
                <a:latin typeface="Segoe UI"/>
              </a:rPr>
              <a:t>Generate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8978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Gemini 2.5 Pro grounded answer with inline citations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KNOWLEDGE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Three pillars feed every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5204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520440" cy="8686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505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Azure AI Search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" y="3127248"/>
            <a:ext cx="118872" cy="11887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5" y="3063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Hybrid: BM25 + vector</a:t>
            </a:r>
          </a:p>
        </p:txBody>
      </p:sp>
      <p:sp>
        <p:nvSpPr>
          <p:cNvPr id="13" name="Oval 12"/>
          <p:cNvSpPr/>
          <p:nvPr/>
        </p:nvSpPr>
        <p:spPr>
          <a:xfrm>
            <a:off x="978407" y="3730752"/>
            <a:ext cx="118872" cy="11887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5" y="36667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text-embedding-3-large</a:t>
            </a:r>
          </a:p>
        </p:txBody>
      </p:sp>
      <p:sp>
        <p:nvSpPr>
          <p:cNvPr id="15" name="Oval 14"/>
          <p:cNvSpPr/>
          <p:nvPr/>
        </p:nvSpPr>
        <p:spPr>
          <a:xfrm>
            <a:off x="978407" y="4334256"/>
            <a:ext cx="118872" cy="11887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5" y="42702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ACL-stamped chunks</a:t>
            </a:r>
          </a:p>
        </p:txBody>
      </p:sp>
      <p:sp>
        <p:nvSpPr>
          <p:cNvPr id="17" name="Oval 16"/>
          <p:cNvSpPr/>
          <p:nvPr/>
        </p:nvSpPr>
        <p:spPr>
          <a:xfrm>
            <a:off x="978407" y="4937760"/>
            <a:ext cx="118872" cy="11887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5" y="4873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Semantic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1920240"/>
            <a:ext cx="35204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2544" y="1920240"/>
            <a:ext cx="3520440" cy="86868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4505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Cosmos DB · Gremlin</a:t>
            </a:r>
          </a:p>
        </p:txBody>
      </p:sp>
      <p:sp>
        <p:nvSpPr>
          <p:cNvPr id="23" name="Oval 22"/>
          <p:cNvSpPr/>
          <p:nvPr/>
        </p:nvSpPr>
        <p:spPr>
          <a:xfrm>
            <a:off x="4672583" y="3127248"/>
            <a:ext cx="118872" cy="118872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3063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Org/collab graph</a:t>
            </a:r>
          </a:p>
        </p:txBody>
      </p:sp>
      <p:sp>
        <p:nvSpPr>
          <p:cNvPr id="25" name="Oval 24"/>
          <p:cNvSpPr/>
          <p:nvPr/>
        </p:nvSpPr>
        <p:spPr>
          <a:xfrm>
            <a:off x="4672583" y="3730752"/>
            <a:ext cx="118872" cy="118872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36667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Author ↔ asker proximity</a:t>
            </a:r>
          </a:p>
        </p:txBody>
      </p:sp>
      <p:sp>
        <p:nvSpPr>
          <p:cNvPr id="27" name="Oval 26"/>
          <p:cNvSpPr/>
          <p:nvPr/>
        </p:nvSpPr>
        <p:spPr>
          <a:xfrm>
            <a:off x="4672583" y="4334256"/>
            <a:ext cx="118872" cy="118872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42702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Group membership</a:t>
            </a:r>
          </a:p>
        </p:txBody>
      </p:sp>
      <p:sp>
        <p:nvSpPr>
          <p:cNvPr id="29" name="Oval 28"/>
          <p:cNvSpPr/>
          <p:nvPr/>
        </p:nvSpPr>
        <p:spPr>
          <a:xfrm>
            <a:off x="4672583" y="4937760"/>
            <a:ext cx="118872" cy="118872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4873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Drives personalization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920240"/>
            <a:ext cx="35204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1920240"/>
            <a:ext cx="3520440" cy="868680"/>
          </a:xfrm>
          <a:prstGeom prst="roundRect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505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Azure Data Explorer</a:t>
            </a:r>
          </a:p>
        </p:txBody>
      </p:sp>
      <p:sp>
        <p:nvSpPr>
          <p:cNvPr id="35" name="Oval 34"/>
          <p:cNvSpPr/>
          <p:nvPr/>
        </p:nvSpPr>
        <p:spPr>
          <a:xfrm>
            <a:off x="8366760" y="3127248"/>
            <a:ext cx="118872" cy="118872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3063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Click / dwell events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3730752"/>
            <a:ext cx="118872" cy="118872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13648" y="36667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Per-type engagement</a:t>
            </a:r>
          </a:p>
        </p:txBody>
      </p:sp>
      <p:sp>
        <p:nvSpPr>
          <p:cNvPr id="39" name="Oval 38"/>
          <p:cNvSpPr/>
          <p:nvPr/>
        </p:nvSpPr>
        <p:spPr>
          <a:xfrm>
            <a:off x="8366760" y="4334256"/>
            <a:ext cx="118872" cy="118872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42702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Recency decay</a:t>
            </a:r>
          </a:p>
        </p:txBody>
      </p:sp>
      <p:sp>
        <p:nvSpPr>
          <p:cNvPr id="41" name="Oval 40"/>
          <p:cNvSpPr/>
          <p:nvPr/>
        </p:nvSpPr>
        <p:spPr>
          <a:xfrm>
            <a:off x="8366760" y="4937760"/>
            <a:ext cx="118872" cy="118872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4873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01A2E"/>
                </a:solidFill>
                <a:latin typeface="Segoe UI"/>
              </a:rPr>
              <a:t>Real signal, not vibes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B82"/>
                </a:solidFill>
                <a:latin typeface="Segoe UI"/>
              </a:rPr>
              <a:t>Each pillar is an independent module behind a stable interface — swappable and individually testable.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Hybrid retrieval + personalized ranker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5B6B82"/>
                </a:solidFill>
                <a:latin typeface="Segoe UI"/>
              </a:rPr>
              <a:t>Candidates fused with Reciprocal Rank Fusion, then re-scored by a weighted multi-signal ranker — same query, different order per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286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Content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relevance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3566160"/>
            <a:ext cx="0" cy="502920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514600"/>
            <a:ext cx="2286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People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proximity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3566160"/>
            <a:ext cx="0" cy="502920"/>
          </a:xfrm>
          <a:prstGeom prst="line">
            <a:avLst/>
          </a:prstGeom>
          <a:ln w="25400">
            <a:solidFill>
              <a:srgbClr val="00B7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2514600"/>
            <a:ext cx="2286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Activity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engagement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3566160"/>
            <a:ext cx="0" cy="502920"/>
          </a:xfrm>
          <a:prstGeom prst="line">
            <a:avLst/>
          </a:prstGeom>
          <a:ln w="25400">
            <a:solidFill>
              <a:srgbClr val="006A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2514600"/>
            <a:ext cx="2286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Recency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2146"/>
                </a:solidFill>
                <a:latin typeface="Segoe UI"/>
              </a:rPr>
              <a:t>signal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95560" y="3566160"/>
            <a:ext cx="0" cy="502920"/>
          </a:xfrm>
          <a:prstGeom prst="line">
            <a:avLst/>
          </a:prstGeom>
          <a:ln w="25400">
            <a:solidFill>
              <a:srgbClr val="B76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94560" y="4251960"/>
            <a:ext cx="7772400" cy="868680"/>
          </a:xfrm>
          <a:prstGeom prst="round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Personalized Ranker   —   RRF ⊕ weighted signal blend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120640"/>
            <a:ext cx="0" cy="365760"/>
          </a:xfrm>
          <a:prstGeom prst="line">
            <a:avLst/>
          </a:prstGeom>
          <a:ln w="31750">
            <a:solidFill>
              <a:srgbClr val="1088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5532120"/>
            <a:ext cx="4846320" cy="64008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Ranked, grounded context →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REAL-TIME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Live Fetch — freshness at query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</a:rPr>
              <a:t>Most queries answer from the index. 'Today / right now' queries trip a freshness trigger that reaches into Microsoft 365 live and merges the results into ranking — so answers are never stale.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Query</a:t>
            </a:r>
          </a:p>
        </p:txBody>
      </p:sp>
      <p:sp>
        <p:nvSpPr>
          <p:cNvPr id="9" name="Diamond 8"/>
          <p:cNvSpPr/>
          <p:nvPr/>
        </p:nvSpPr>
        <p:spPr>
          <a:xfrm>
            <a:off x="3840480" y="3063240"/>
            <a:ext cx="2377440" cy="1188720"/>
          </a:xfrm>
          <a:prstGeom prst="diamond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Freshness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trigger?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657600"/>
            <a:ext cx="640080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148840"/>
            <a:ext cx="3657600" cy="868680"/>
          </a:xfrm>
          <a:prstGeom prst="roundRect">
            <a:avLst>
              <a:gd name="adj" fmla="val 12000"/>
            </a:avLst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Index only  →  Azure AI Search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3383280"/>
            <a:ext cx="731520" cy="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5080" y="2834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B82"/>
                </a:solidFill>
                <a:latin typeface="Segoe UI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89120"/>
            <a:ext cx="3657600" cy="868680"/>
          </a:xfrm>
          <a:prstGeom prst="roundRect">
            <a:avLst>
              <a:gd name="adj" fmla="val 12000"/>
            </a:avLst>
          </a:prstGeom>
          <a:solidFill>
            <a:srgbClr val="0B2146"/>
          </a:solidFill>
          <a:ln w="12700">
            <a:solidFill>
              <a:srgbClr val="0B2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Live  →  Microsoft Graph /search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4251960"/>
            <a:ext cx="0" cy="548640"/>
          </a:xfrm>
          <a:prstGeom prst="line">
            <a:avLst/>
          </a:prstGeom>
          <a:ln w="31750">
            <a:solidFill>
              <a:srgbClr val="B76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4800600"/>
            <a:ext cx="1920240" cy="0"/>
          </a:xfrm>
          <a:prstGeom prst="line">
            <a:avLst/>
          </a:prstGeom>
          <a:ln w="31750">
            <a:solidFill>
              <a:srgbClr val="B76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43434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76E00"/>
                </a:solidFill>
                <a:latin typeface="Segoe UI"/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5B6B82"/>
                </a:solidFill>
                <a:latin typeface="Segoe UI"/>
              </a:rPr>
              <a:t>Today: DefaultAzureCredential (single identity), heuristic + LLM trigger. Phase 5: per-user on-behalf-of (OBO) delegation.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6A71"/>
                </a:solidFill>
                <a:latin typeface="Segoe UI"/>
              </a:rPr>
              <a:t>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Double-enforcement ACLs — fail-closed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4937760" cy="1554480"/>
          </a:xfrm>
          <a:prstGeom prst="roundRect">
            <a:avLst/>
          </a:prstGeom>
          <a:solidFill>
            <a:srgbClr val="ECF2FB"/>
          </a:solidFill>
          <a:ln w="19050">
            <a:solidFill>
              <a:srgbClr val="006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6A71"/>
                </a:solidFill>
                <a:latin typeface="Segoe UI"/>
              </a:rPr>
              <a:t>① Index-time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Ingest resolves each document's ACL and stamps allowed principals onto every chunk in Azure AI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4937760" cy="1554480"/>
          </a:xfrm>
          <a:prstGeom prst="roundRect">
            <a:avLst/>
          </a:prstGeom>
          <a:solidFill>
            <a:srgbClr val="ECF2FB"/>
          </a:solidFill>
          <a:ln w="19050">
            <a:solidFill>
              <a:srgbClr val="006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6A71"/>
                </a:solidFill>
                <a:latin typeface="Segoe UI"/>
              </a:rPr>
              <a:t>② Query-time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B82"/>
                </a:solidFill>
                <a:latin typeface="Segoe UI"/>
              </a:rPr>
              <a:t>Every candidate is re-checked against the live ACL store at answer time — filter applied before generation.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3749039"/>
            <a:ext cx="0" cy="228600"/>
          </a:xfrm>
          <a:prstGeom prst="line">
            <a:avLst/>
          </a:prstGeom>
          <a:ln w="31750">
            <a:solidFill>
              <a:srgbClr val="006A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194560"/>
            <a:ext cx="5212080" cy="3337560"/>
          </a:xfrm>
          <a:prstGeom prst="round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8183879" y="2514600"/>
            <a:ext cx="914400" cy="914400"/>
          </a:xfrm>
          <a:prstGeom prst="hexagon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118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Fail-closed by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0A0E6"/>
                </a:solidFill>
                <a:latin typeface="Segoe UI"/>
              </a:rPr>
              <a:t>ACL store unreachable  →  candidate dropped, never shown.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0A0E6"/>
                </a:solidFill>
                <a:latin typeface="Segoe UI"/>
              </a:rPr>
              <a:t>An ACL-freshness gate forces re-resolution when stamps are stale.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0A0E6"/>
                </a:solidFill>
                <a:latin typeface="Segoe UI"/>
              </a:rPr>
              <a:t>Over-sharing is structurally impossible.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ANSWER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Grounded generation, measured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2146"/>
                </a:solidFill>
                <a:latin typeface="Segoe UI"/>
              </a:rPr>
              <a:t>Generation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313432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Gemini 2.5 Pro  </a:t>
            </a:r>
            <a:r>
              <a:rPr sz="1350">
                <a:solidFill>
                  <a:srgbClr val="101A2E"/>
                </a:solidFill>
                <a:latin typeface="Segoe UI"/>
              </a:rPr>
              <a:t>grounded on ranked context only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1752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916936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Inline citations  </a:t>
            </a:r>
            <a:r>
              <a:rPr sz="1350">
                <a:solidFill>
                  <a:srgbClr val="101A2E"/>
                </a:solidFill>
                <a:latin typeface="Segoe UI"/>
              </a:rPr>
              <a:t>every claim links to its source chunk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21024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520440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Refuses out-of-corpus  </a:t>
            </a:r>
            <a:r>
              <a:rPr sz="1350">
                <a:solidFill>
                  <a:srgbClr val="101A2E"/>
                </a:solidFill>
                <a:latin typeface="Segoe UI"/>
              </a:rPr>
              <a:t>no grounding → explicit 'I don't know'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24527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123944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Gemini 2.5 Flash planner  </a:t>
            </a:r>
            <a:r>
              <a:rPr sz="1350">
                <a:solidFill>
                  <a:srgbClr val="101A2E"/>
                </a:solidFill>
                <a:latin typeface="Segoe UI"/>
              </a:rPr>
              <a:t>cheap intent classification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2146"/>
                </a:solidFill>
                <a:latin typeface="Segoe UI"/>
              </a:rPr>
              <a:t>Eval harness (day one)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14015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313432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Golden Q&amp;A regression  </a:t>
            </a:r>
            <a:r>
              <a:rPr sz="1350">
                <a:solidFill>
                  <a:srgbClr val="101A2E"/>
                </a:solidFill>
                <a:latin typeface="Segoe UI"/>
              </a:rPr>
              <a:t>quality changes are measurable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301752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916936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A/B config harness  </a:t>
            </a:r>
            <a:r>
              <a:rPr sz="1350">
                <a:solidFill>
                  <a:srgbClr val="101A2E"/>
                </a:solidFill>
                <a:latin typeface="Segoe UI"/>
              </a:rPr>
              <a:t>ranker tuning is data-driven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3621024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520440"/>
            <a:ext cx="4901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2146"/>
                </a:solidFill>
                <a:latin typeface="Segoe UI"/>
              </a:rPr>
              <a:t>Retrieval metrics  </a:t>
            </a:r>
            <a:r>
              <a:rPr sz="1350">
                <a:solidFill>
                  <a:srgbClr val="101A2E"/>
                </a:solidFill>
                <a:latin typeface="Segoe UI"/>
              </a:rPr>
              <a:t>recall@10, MRR@10 gates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80560"/>
            <a:ext cx="2514600" cy="1188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078D4"/>
                </a:solidFill>
                <a:latin typeface="Segoe UI Light"/>
              </a:rPr>
              <a:t>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recall@10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480560"/>
            <a:ext cx="2514600" cy="1188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078D4"/>
                </a:solidFill>
                <a:latin typeface="Segoe UI Light"/>
              </a:rP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1208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MRR@10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2514600" cy="1188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617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078D4"/>
                </a:solidFill>
                <a:latin typeface="Segoe UI Light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21208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golden Qs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4480560"/>
            <a:ext cx="2514600" cy="1188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4617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078D4"/>
                </a:solidFill>
                <a:latin typeface="Segoe UI Light"/>
              </a:rPr>
              <a:t>~6s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521208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warm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B82"/>
                </a:solidFill>
                <a:latin typeface="Segoe UI"/>
              </a:rPr>
              <a:t>Phase-1 baseline, 2026-05-29 — quality is regression-tested, not vibes.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REACH &amp;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Connectors &amp; extensibility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Source connectors (Microsoft Graph)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342900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78D4"/>
                </a:solidFill>
                <a:latin typeface="Segoe UI"/>
              </a:rPr>
              <a:t>SharePoint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files + sites, ACL-aware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40280"/>
            <a:ext cx="342900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395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78D4"/>
                </a:solidFill>
                <a:latin typeface="Segoe UI"/>
              </a:rPr>
              <a:t>Outlook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mail + calendar, per-participant ACL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40280"/>
            <a:ext cx="342900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95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78D4"/>
                </a:solidFill>
                <a:latin typeface="Segoe UI"/>
              </a:rPr>
              <a:t>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channels + private-channel ACL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Programmatic surfaces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51960"/>
            <a:ext cx="3429000" cy="123444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07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6A71"/>
                </a:solidFill>
                <a:latin typeface="Segoe UI"/>
              </a:rPr>
              <a:t>Context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/context — PAT-authenticated retrieval for apps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251960"/>
            <a:ext cx="3429000" cy="123444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407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6A71"/>
                </a:solidFill>
                <a:latin typeface="Segoe UI"/>
              </a:rPr>
              <a:t>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8463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/mcp — Model Context Protocol for AI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51960"/>
            <a:ext cx="3429000" cy="123444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407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6A71"/>
                </a:solidFill>
                <a:latin typeface="Segoe UI"/>
              </a:rPr>
              <a:t>Admin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</a:rPr>
              <a:t>/admin — connector config, ingest, 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B82"/>
                </a:solidFill>
                <a:latin typeface="Segoe UI"/>
              </a:rPr>
              <a:t>Webhooks + delta sync keep connectors current; per-participant ACLs carry through to query-time enforcement.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RUNS ON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Deployment &amp;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468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Local amd64 build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606040"/>
            <a:ext cx="256032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47872" y="2148840"/>
            <a:ext cx="2468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Azure Container Registry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16752" y="2606040"/>
            <a:ext cx="256032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72783" y="2148840"/>
            <a:ext cx="2468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Container Apps rollout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41663" y="2606040"/>
            <a:ext cx="256032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97696" y="2148840"/>
            <a:ext cx="24688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Health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5212080" cy="228600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57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Identity &amp; secrets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42816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4142232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Managed identity  </a:t>
            </a:r>
            <a:r>
              <a:rPr sz="1250">
                <a:solidFill>
                  <a:srgbClr val="101A2E"/>
                </a:solidFill>
                <a:latin typeface="Segoe UI"/>
              </a:rPr>
              <a:t>DefaultAzureCredential, no secrets in code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754879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4654296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Azure Key Vault  </a:t>
            </a:r>
            <a:r>
              <a:rPr sz="1250">
                <a:solidFill>
                  <a:srgbClr val="101A2E"/>
                </a:solidFill>
                <a:latin typeface="Segoe UI"/>
              </a:rPr>
              <a:t>only what MI can't cover (OBO secret)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266944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8176" y="5166360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Microsoft Entra  </a:t>
            </a:r>
            <a:r>
              <a:rPr sz="1250">
                <a:solidFill>
                  <a:srgbClr val="101A2E"/>
                </a:solidFill>
                <a:latin typeface="Segoe UI"/>
              </a:rPr>
              <a:t>SSO + JWT validation, PAT for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20440"/>
            <a:ext cx="5212080" cy="228600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Observability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242816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142232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OpenTelemetry  </a:t>
            </a:r>
            <a:r>
              <a:rPr sz="1250">
                <a:solidFill>
                  <a:srgbClr val="101A2E"/>
                </a:solidFill>
                <a:latin typeface="Segoe UI"/>
              </a:rPr>
              <a:t>one trace per request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754879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654296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Application Insights  </a:t>
            </a:r>
            <a:r>
              <a:rPr sz="1250">
                <a:solidFill>
                  <a:srgbClr val="101A2E"/>
                </a:solidFill>
                <a:latin typeface="Segoe UI"/>
              </a:rPr>
              <a:t>signal breakdown as span attributes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5266944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5166360"/>
            <a:ext cx="4443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B2146"/>
                </a:solidFill>
                <a:latin typeface="Segoe UI"/>
              </a:rPr>
              <a:t>Log Analytics  </a:t>
            </a:r>
            <a:r>
              <a:rPr sz="1250">
                <a:solidFill>
                  <a:srgbClr val="101A2E"/>
                </a:solidFill>
                <a:latin typeface="Segoe UI"/>
              </a:rPr>
              <a:t>centralized Container Apps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B82"/>
                </a:solidFill>
                <a:latin typeface="Segoe UI"/>
              </a:rPr>
              <a:t>Region: centralindia · Azure OpenAI in swedencentral. Bicep/APIM deferred to Phase 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Architecture deep dive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0A0E6"/>
                </a:solidFill>
                <a:latin typeface="Segoe UI"/>
              </a:rPr>
              <a:t>PHASE 5 — INFRA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 Light"/>
              </a:rPr>
              <a:t>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9077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Per-user OBO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101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delegated on-behalf-of tokens for Live 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9077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APIM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3101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auth, rate-limit, WAF in front of the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9077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Event-driven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3101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Event Hubs ingestion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Per-tenant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681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dedicated index per 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1148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JWKS caching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681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token-validation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74720" cy="118872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4279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B7C3"/>
                </a:solidFill>
                <a:latin typeface="Segoe UI"/>
              </a:rPr>
              <a:t>Bicep IaC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681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replace az-CLI provisioning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50A0E6"/>
                </a:solidFill>
                <a:latin typeface="Segoe UI"/>
              </a:rPr>
              <a:t>Clean module boundaries today → mechanical lift to microservices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