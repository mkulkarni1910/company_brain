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0B2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360000">
            <a:off x="-914400" y="4297680"/>
            <a:ext cx="14630400" cy="2926080"/>
          </a:xfrm>
          <a:prstGeom prst="rect">
            <a:avLst/>
          </a:prstGeom>
          <a:solidFill>
            <a:srgbClr val="09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0A0E6"/>
                </a:solidFill>
                <a:latin typeface="Segoe UI"/>
              </a:rPr>
              <a:t>MICROSOFT  ·  AZURE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600" b="1" i="0">
                <a:solidFill>
                  <a:srgbClr val="FFFFFF"/>
                </a:solidFill>
                <a:latin typeface="Segoe UI Light"/>
              </a:rPr>
              <a:t>SubStrateOS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50A0E6"/>
                </a:solidFill>
                <a:latin typeface="Segoe UI Light"/>
              </a:rPr>
              <a:t>Enterprise intelligence layer on Microsoft Azure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794760"/>
            <a:ext cx="2011680" cy="45720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FFFFFF"/>
                </a:solidFill>
                <a:latin typeface="Segoe UI"/>
              </a:rPr>
              <a:t>Find any answer across your company — grounded, personalized, secure.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0A0E6"/>
                </a:solidFill>
                <a:latin typeface="Segoe UI"/>
              </a:rPr>
              <a:t>FOR THE HACKATHON REVIEW COMMITTEE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0B2146"/>
                </a:solidFill>
                <a:latin typeface="Segoe UI Light"/>
              </a:rPr>
              <a:t>Company knowledge is everywhere — and nowhere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1148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6400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</a:rPr>
              <a:t>An employee's answer lives scattered across SharePoint files, Outlook mail, Teams chats, and a dozen apps. Finding it means asking around, guessing keywords, and re-doing work that already exists.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83280"/>
            <a:ext cx="3456432" cy="2331720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83280"/>
            <a:ext cx="3456432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7033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B2146"/>
                </a:solidFill>
                <a:latin typeface="Segoe UI"/>
              </a:rPr>
              <a:t>Wasted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251960"/>
            <a:ext cx="2926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5B6B82"/>
                </a:solidFill>
                <a:latin typeface="Segoe UI"/>
              </a:rPr>
              <a:t>Knowledge workers spend ~20% of the week just searching for information.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3383280"/>
            <a:ext cx="3456432" cy="2331720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3383280"/>
            <a:ext cx="3456432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37033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B2146"/>
                </a:solidFill>
                <a:latin typeface="Segoe UI"/>
              </a:rPr>
              <a:t>Wrong 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4251960"/>
            <a:ext cx="2926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5B6B82"/>
                </a:solidFill>
                <a:latin typeface="Segoe UI"/>
              </a:rPr>
              <a:t>Stale docs and dead links lead to decisions on outdated facts.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7" y="3383280"/>
            <a:ext cx="3456432" cy="2331720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73567" y="3383280"/>
            <a:ext cx="3456432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37033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B2146"/>
                </a:solidFill>
                <a:latin typeface="Segoe UI"/>
              </a:rPr>
              <a:t>Locked-in silos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4251960"/>
            <a:ext cx="2926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5B6B82"/>
                </a:solidFill>
                <a:latin typeface="Segoe UI"/>
              </a:rPr>
              <a:t>Each tool searches only itself — no single, permission-aware 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SubStrateOS · Microsoft Hackathon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0B2146"/>
                </a:solidFill>
                <a:latin typeface="Segoe UI Light"/>
              </a:rPr>
              <a:t>One question box over everything you're allowed to see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1148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</a:rPr>
              <a:t>SubStrateOS reads across your Microsoft 365 world and answers in plain language — every answer backed by citations to the real source.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2468880" cy="1005840"/>
          </a:xfrm>
          <a:prstGeom prst="roundRect">
            <a:avLst>
              <a:gd name="adj" fmla="val 12000"/>
            </a:avLst>
          </a:prstGeom>
          <a:solidFill>
            <a:srgbClr val="0078D4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Ask a question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in plain English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108960"/>
            <a:ext cx="2743200" cy="1005840"/>
          </a:xfrm>
          <a:prstGeom prst="roundRect">
            <a:avLst>
              <a:gd name="adj" fmla="val 12000"/>
            </a:avLst>
          </a:prstGeom>
          <a:solidFill>
            <a:srgbClr val="0B2146"/>
          </a:solidFill>
          <a:ln w="12700">
            <a:solidFill>
              <a:srgbClr val="0B21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SubStrateOS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searches what YOU can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3108960"/>
            <a:ext cx="2743200" cy="1005840"/>
          </a:xfrm>
          <a:prstGeom prst="roundRect">
            <a:avLst>
              <a:gd name="adj" fmla="val 12000"/>
            </a:avLst>
          </a:prstGeom>
          <a:solidFill>
            <a:srgbClr val="00B7C3"/>
          </a:solidFill>
          <a:ln w="12700">
            <a:solidFill>
              <a:srgbClr val="0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Grounded answer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+ citations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83280" y="3611880"/>
            <a:ext cx="1097280" cy="0"/>
          </a:xfrm>
          <a:prstGeom prst="line">
            <a:avLst/>
          </a:prstGeom>
          <a:ln w="31750">
            <a:solidFill>
              <a:srgbClr val="0078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06640" y="3611880"/>
            <a:ext cx="1097279" cy="0"/>
          </a:xfrm>
          <a:prstGeom prst="line">
            <a:avLst/>
          </a:prstGeom>
          <a:ln w="31750">
            <a:solidFill>
              <a:srgbClr val="0078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466344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0B2146"/>
                </a:solidFill>
                <a:latin typeface="Segoe UI"/>
              </a:rPr>
              <a:t>“What is our PTO policy?”  →  a clear answer with a link to the exact HR doc it came from. No hallucinations: if the answer isn't in your content, it says so.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SubStrateOS · Microsoft Hackathon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0B2146"/>
                </a:solidFill>
                <a:latin typeface="Segoe UI Light"/>
              </a:rPr>
              <a:t>Three things that make it trustworthy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1148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35204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0976" y="233172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32004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0B2146"/>
                </a:solidFill>
                <a:latin typeface="Segoe UI"/>
              </a:rPr>
              <a:t>Grounded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7033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78D4"/>
                </a:solidFill>
                <a:latin typeface="Segoe UI"/>
              </a:rPr>
              <a:t>Every answer cites its sources.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20624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5B6B82"/>
                </a:solidFill>
                <a:latin typeface="Segoe UI"/>
              </a:rPr>
              <a:t>Answers come only from your real documents, with links to verify — never invented.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2011680"/>
            <a:ext cx="35204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5152" y="233172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32004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0B2146"/>
                </a:solidFill>
                <a:latin typeface="Segoe UI"/>
              </a:rPr>
              <a:t>Personalized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7033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78D4"/>
                </a:solidFill>
                <a:latin typeface="Segoe UI"/>
              </a:rPr>
              <a:t>Tuned to who you are.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420624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5B6B82"/>
                </a:solidFill>
                <a:latin typeface="Segoe UI"/>
              </a:rPr>
              <a:t>Ranks results using your team, your permissions, and what your org actually engages with.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011680"/>
            <a:ext cx="35204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39328" y="233172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32004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0B2146"/>
                </a:solidFill>
                <a:latin typeface="Segoe UI"/>
              </a:rPr>
              <a:t>Always fresh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37033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78D4"/>
                </a:solidFill>
                <a:latin typeface="Segoe UI"/>
              </a:rPr>
              <a:t>Live, not last-week.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420624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5B6B82"/>
                </a:solidFill>
                <a:latin typeface="Segoe UI"/>
              </a:rPr>
              <a:t>For 'today / right now' questions it reaches into Microsoft 365 live, at the moment you ask.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SubStrateOS · Microsoft Hackathon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ARCHITECTURE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0B2146"/>
                </a:solidFill>
                <a:latin typeface="Segoe UI Light"/>
              </a:rPr>
              <a:t>How it works — the simple 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1148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468880"/>
            <a:ext cx="2194560" cy="1188720"/>
          </a:xfrm>
          <a:prstGeom prst="roundRect">
            <a:avLst>
              <a:gd name="adj" fmla="val 12000"/>
            </a:avLst>
          </a:prstGeom>
          <a:solidFill>
            <a:srgbClr val="0078D4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You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ask a question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194560"/>
            <a:ext cx="3931920" cy="1737360"/>
          </a:xfrm>
          <a:prstGeom prst="roundRect">
            <a:avLst/>
          </a:prstGeom>
          <a:solidFill>
            <a:srgbClr val="0B2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SubStrateOS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intelligence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65760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0A0E6"/>
                </a:solidFill>
                <a:latin typeface="Segoe UI"/>
              </a:rPr>
              <a:t>(understands · finds · ranks · explains)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783080"/>
            <a:ext cx="2468880" cy="1005840"/>
          </a:xfrm>
          <a:prstGeom prst="roundRect">
            <a:avLst>
              <a:gd name="adj" fmla="val 12000"/>
            </a:avLst>
          </a:prstGeom>
          <a:solidFill>
            <a:srgbClr val="ECF2FB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2146"/>
                </a:solidFill>
                <a:latin typeface="Segoe UI"/>
              </a:rPr>
              <a:t>SharePoint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2146"/>
                </a:solidFill>
                <a:latin typeface="Segoe UI"/>
              </a:rPr>
              <a:t>&amp; files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46720" y="2286000"/>
            <a:ext cx="1097280" cy="0"/>
          </a:xfrm>
          <a:prstGeom prst="line">
            <a:avLst/>
          </a:prstGeom>
          <a:ln w="31750">
            <a:solidFill>
              <a:srgbClr val="00B7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0" y="3108960"/>
            <a:ext cx="2468880" cy="1005840"/>
          </a:xfrm>
          <a:prstGeom prst="roundRect">
            <a:avLst>
              <a:gd name="adj" fmla="val 12000"/>
            </a:avLst>
          </a:prstGeom>
          <a:solidFill>
            <a:srgbClr val="ECF2FB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2146"/>
                </a:solidFill>
                <a:latin typeface="Segoe UI"/>
              </a:rPr>
              <a:t>Outlook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2146"/>
                </a:solidFill>
                <a:latin typeface="Segoe UI"/>
              </a:rPr>
              <a:t>mail &amp; calendar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46720" y="3611880"/>
            <a:ext cx="1097280" cy="0"/>
          </a:xfrm>
          <a:prstGeom prst="line">
            <a:avLst/>
          </a:prstGeom>
          <a:ln w="31750">
            <a:solidFill>
              <a:srgbClr val="00B7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0" y="4434840"/>
            <a:ext cx="2468880" cy="1005840"/>
          </a:xfrm>
          <a:prstGeom prst="roundRect">
            <a:avLst>
              <a:gd name="adj" fmla="val 12000"/>
            </a:avLst>
          </a:prstGeom>
          <a:solidFill>
            <a:srgbClr val="ECF2FB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2146"/>
                </a:solidFill>
                <a:latin typeface="Segoe UI"/>
              </a:rPr>
              <a:t>Teams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2146"/>
                </a:solidFill>
                <a:latin typeface="Segoe UI"/>
              </a:rPr>
              <a:t>conversations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46720" y="4937759"/>
            <a:ext cx="1097280" cy="0"/>
          </a:xfrm>
          <a:prstGeom prst="line">
            <a:avLst/>
          </a:prstGeom>
          <a:ln w="31750">
            <a:solidFill>
              <a:srgbClr val="00B7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08960" y="2788920"/>
            <a:ext cx="1005840" cy="0"/>
          </a:xfrm>
          <a:prstGeom prst="line">
            <a:avLst/>
          </a:prstGeom>
          <a:ln w="31750">
            <a:solidFill>
              <a:srgbClr val="0078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914400" y="4572000"/>
            <a:ext cx="3200400" cy="0"/>
          </a:xfrm>
          <a:prstGeom prst="line">
            <a:avLst/>
          </a:prstGeom>
          <a:ln w="31750">
            <a:solidFill>
              <a:srgbClr val="1088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46177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0884A"/>
                </a:solidFill>
                <a:latin typeface="Segoe UI"/>
              </a:rPr>
              <a:t>Answer + citations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32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5B6B82"/>
                </a:solidFill>
                <a:latin typeface="Segoe UI"/>
              </a:rPr>
              <a:t>Everything runs on Microsoft Azure. You only ever see content you already have permission to open.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SubStrateOS · Microsoft Hackathon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WHY IT'S ENTERPRISE-READY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0B2146"/>
                </a:solidFill>
                <a:latin typeface="Segoe UI Light"/>
              </a:rPr>
              <a:t>Built on the Microsoft Azure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1148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6420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5B6B82"/>
                </a:solidFill>
                <a:latin typeface="Segoe UI"/>
              </a:rPr>
              <a:t>Every layer your IT team governs — search, data, identity, and hosting — is a first-party Azure service. No exotic dependencies.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77440"/>
            <a:ext cx="260604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9264" y="2761488"/>
            <a:ext cx="329184" cy="32918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4752" y="2487168"/>
            <a:ext cx="1892808" cy="877824"/>
          </a:xfrm>
          <a:prstGeom prst="rect">
            <a:avLst/>
          </a:prstGeom>
          <a:noFill/>
        </p:spPr>
        <p:txBody>
          <a:bodyPr wrap="square" anchor="ctr" lIns="0" tIns="0" bIns="0">
            <a:spAutoFit/>
          </a:bodyPr>
          <a:lstStyle/>
          <a:p>
            <a:r>
              <a:rPr sz="1300" b="1">
                <a:solidFill>
                  <a:srgbClr val="0B2146"/>
                </a:solidFill>
                <a:latin typeface="Segoe UI"/>
              </a:rPr>
              <a:t>Azure AI Search</a:t>
            </a:r>
          </a:p>
          <a:p>
            <a:r>
              <a:rPr sz="950">
                <a:solidFill>
                  <a:srgbClr val="5B6B82"/>
                </a:solidFill>
                <a:latin typeface="Segoe UI"/>
              </a:rPr>
              <a:t>Hybrid retrieval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377440"/>
            <a:ext cx="260604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58184" y="2761488"/>
            <a:ext cx="329184" cy="32918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3672" y="2487168"/>
            <a:ext cx="1892808" cy="877824"/>
          </a:xfrm>
          <a:prstGeom prst="rect">
            <a:avLst/>
          </a:prstGeom>
          <a:noFill/>
        </p:spPr>
        <p:txBody>
          <a:bodyPr wrap="square" anchor="ctr" lIns="0" tIns="0" bIns="0">
            <a:spAutoFit/>
          </a:bodyPr>
          <a:lstStyle/>
          <a:p>
            <a:r>
              <a:rPr sz="1300" b="1">
                <a:solidFill>
                  <a:srgbClr val="0B2146"/>
                </a:solidFill>
                <a:latin typeface="Segoe UI"/>
              </a:rPr>
              <a:t>Azure OpenAI</a:t>
            </a:r>
          </a:p>
          <a:p>
            <a:r>
              <a:rPr sz="950">
                <a:solidFill>
                  <a:srgbClr val="5B6B82"/>
                </a:solidFill>
                <a:latin typeface="Segoe UI"/>
              </a:rPr>
              <a:t>Embeddings + vectors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377440"/>
            <a:ext cx="260604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47104" y="2761488"/>
            <a:ext cx="329184" cy="32918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22592" y="2487168"/>
            <a:ext cx="1892808" cy="877824"/>
          </a:xfrm>
          <a:prstGeom prst="rect">
            <a:avLst/>
          </a:prstGeom>
          <a:noFill/>
        </p:spPr>
        <p:txBody>
          <a:bodyPr wrap="square" anchor="ctr" lIns="0" tIns="0" bIns="0">
            <a:spAutoFit/>
          </a:bodyPr>
          <a:lstStyle/>
          <a:p>
            <a:r>
              <a:rPr sz="1300" b="1">
                <a:solidFill>
                  <a:srgbClr val="0B2146"/>
                </a:solidFill>
                <a:latin typeface="Segoe UI"/>
              </a:rPr>
              <a:t>Cosmos DB</a:t>
            </a:r>
          </a:p>
          <a:p>
            <a:r>
              <a:rPr sz="950">
                <a:solidFill>
                  <a:srgbClr val="5B6B82"/>
                </a:solidFill>
                <a:latin typeface="Segoe UI"/>
              </a:rPr>
              <a:t>People graph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2377440"/>
            <a:ext cx="260604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36024" y="2761488"/>
            <a:ext cx="329184" cy="32918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11512" y="2487168"/>
            <a:ext cx="1892808" cy="877824"/>
          </a:xfrm>
          <a:prstGeom prst="rect">
            <a:avLst/>
          </a:prstGeom>
          <a:noFill/>
        </p:spPr>
        <p:txBody>
          <a:bodyPr wrap="square" anchor="ctr" lIns="0" tIns="0" bIns="0">
            <a:spAutoFit/>
          </a:bodyPr>
          <a:lstStyle/>
          <a:p>
            <a:r>
              <a:rPr sz="1300" b="1">
                <a:solidFill>
                  <a:srgbClr val="0B2146"/>
                </a:solidFill>
                <a:latin typeface="Segoe UI"/>
              </a:rPr>
              <a:t>Azure Data Explorer</a:t>
            </a:r>
          </a:p>
          <a:p>
            <a:r>
              <a:rPr sz="950">
                <a:solidFill>
                  <a:srgbClr val="5B6B82"/>
                </a:solidFill>
                <a:latin typeface="Segoe UI"/>
              </a:rPr>
              <a:t>Activity signals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657600"/>
            <a:ext cx="260604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9264" y="4041648"/>
            <a:ext cx="329184" cy="32918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4752" y="3767328"/>
            <a:ext cx="1892808" cy="877824"/>
          </a:xfrm>
          <a:prstGeom prst="rect">
            <a:avLst/>
          </a:prstGeom>
          <a:noFill/>
        </p:spPr>
        <p:txBody>
          <a:bodyPr wrap="square" anchor="ctr" lIns="0" tIns="0" bIns="0">
            <a:spAutoFit/>
          </a:bodyPr>
          <a:lstStyle/>
          <a:p>
            <a:r>
              <a:rPr sz="1300" b="1">
                <a:solidFill>
                  <a:srgbClr val="0B2146"/>
                </a:solidFill>
                <a:latin typeface="Segoe UI"/>
              </a:rPr>
              <a:t>Microsoft Graph</a:t>
            </a:r>
          </a:p>
          <a:p>
            <a:r>
              <a:rPr sz="950">
                <a:solidFill>
                  <a:srgbClr val="5B6B82"/>
                </a:solidFill>
                <a:latin typeface="Segoe UI"/>
              </a:rPr>
              <a:t>Live M365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3657600"/>
            <a:ext cx="260604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758184" y="4041648"/>
            <a:ext cx="329184" cy="32918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33672" y="3767328"/>
            <a:ext cx="1892808" cy="877824"/>
          </a:xfrm>
          <a:prstGeom prst="rect">
            <a:avLst/>
          </a:prstGeom>
          <a:noFill/>
        </p:spPr>
        <p:txBody>
          <a:bodyPr wrap="square" anchor="ctr" lIns="0" tIns="0" bIns="0">
            <a:spAutoFit/>
          </a:bodyPr>
          <a:lstStyle/>
          <a:p>
            <a:r>
              <a:rPr sz="1300" b="1">
                <a:solidFill>
                  <a:srgbClr val="0B2146"/>
                </a:solidFill>
                <a:latin typeface="Segoe UI"/>
              </a:rPr>
              <a:t>Microsoft Entra ID</a:t>
            </a:r>
          </a:p>
          <a:p>
            <a:r>
              <a:rPr sz="950">
                <a:solidFill>
                  <a:srgbClr val="5B6B82"/>
                </a:solidFill>
                <a:latin typeface="Segoe UI"/>
              </a:rPr>
              <a:t>Sign-in &amp; identity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657600"/>
            <a:ext cx="260604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47104" y="4041648"/>
            <a:ext cx="329184" cy="32918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22592" y="3767328"/>
            <a:ext cx="1892808" cy="877824"/>
          </a:xfrm>
          <a:prstGeom prst="rect">
            <a:avLst/>
          </a:prstGeom>
          <a:noFill/>
        </p:spPr>
        <p:txBody>
          <a:bodyPr wrap="square" anchor="ctr" lIns="0" tIns="0" bIns="0">
            <a:spAutoFit/>
          </a:bodyPr>
          <a:lstStyle/>
          <a:p>
            <a:r>
              <a:rPr sz="1300" b="1">
                <a:solidFill>
                  <a:srgbClr val="0B2146"/>
                </a:solidFill>
                <a:latin typeface="Segoe UI"/>
              </a:rPr>
              <a:t>Azure Container Apps</a:t>
            </a:r>
          </a:p>
          <a:p>
            <a:r>
              <a:rPr sz="950">
                <a:solidFill>
                  <a:srgbClr val="5B6B82"/>
                </a:solidFill>
                <a:latin typeface="Segoe UI"/>
              </a:rPr>
              <a:t>Hosting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20" y="3657600"/>
            <a:ext cx="260604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36024" y="4041648"/>
            <a:ext cx="329184" cy="32918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11512" y="3767328"/>
            <a:ext cx="1892808" cy="877824"/>
          </a:xfrm>
          <a:prstGeom prst="rect">
            <a:avLst/>
          </a:prstGeom>
          <a:noFill/>
        </p:spPr>
        <p:txBody>
          <a:bodyPr wrap="square" anchor="ctr" lIns="0" tIns="0" bIns="0">
            <a:spAutoFit/>
          </a:bodyPr>
          <a:lstStyle/>
          <a:p>
            <a:r>
              <a:rPr sz="1300" b="1">
                <a:solidFill>
                  <a:srgbClr val="0B2146"/>
                </a:solidFill>
                <a:latin typeface="Segoe UI"/>
              </a:rPr>
              <a:t>Azure Monitor</a:t>
            </a:r>
          </a:p>
          <a:p>
            <a:r>
              <a:rPr sz="950">
                <a:solidFill>
                  <a:srgbClr val="5B6B82"/>
                </a:solidFill>
                <a:latin typeface="Segoe UI"/>
              </a:rPr>
              <a:t>Observability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212080"/>
            <a:ext cx="10652760" cy="685800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330952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B2146"/>
                </a:solidFill>
                <a:latin typeface="Segoe UI"/>
              </a:rPr>
              <a:t>Answer generation runs on Google Gemini 2.5 Pro through a pluggable LLM layer — swappable for Azure OpenAI with no architecture change.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SubStrateOS · Microsoft Hackathon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6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6A71"/>
                </a:solidFill>
                <a:latin typeface="Segoe UI"/>
              </a:rPr>
              <a:t>SECURITY &amp;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0B2146"/>
                </a:solidFill>
                <a:latin typeface="Segoe UI Light"/>
              </a:rPr>
              <a:t>You only ever see what you're permitted 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1148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</a:rPr>
              <a:t>Permissions aren't an afterthought — they're enforced twice, independently. If the permission service is ever unreachable, the system shows nothing rather than risk a leak.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3648456"/>
            <a:ext cx="146304" cy="146304"/>
          </a:xfrm>
          <a:prstGeom prst="ellipse">
            <a:avLst/>
          </a:prstGeom>
          <a:solidFill>
            <a:srgbClr val="006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3547872"/>
            <a:ext cx="627278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2146"/>
                </a:solidFill>
                <a:latin typeface="Segoe UI"/>
              </a:rPr>
              <a:t>Permission-stamped  </a:t>
            </a:r>
            <a:r>
              <a:rPr sz="1500">
                <a:solidFill>
                  <a:srgbClr val="101A2E"/>
                </a:solidFill>
                <a:latin typeface="Segoe UI"/>
              </a:rPr>
              <a:t>every document carries its access list from day one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4215383"/>
            <a:ext cx="146304" cy="146304"/>
          </a:xfrm>
          <a:prstGeom prst="ellipse">
            <a:avLst/>
          </a:prstGeom>
          <a:solidFill>
            <a:srgbClr val="006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4114800"/>
            <a:ext cx="627278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2146"/>
                </a:solidFill>
                <a:latin typeface="Segoe UI"/>
              </a:rPr>
              <a:t>Re-checked live  </a:t>
            </a:r>
            <a:r>
              <a:rPr sz="1500">
                <a:solidFill>
                  <a:srgbClr val="101A2E"/>
                </a:solidFill>
                <a:latin typeface="Segoe UI"/>
              </a:rPr>
              <a:t>access is verified again the moment you ask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4782312"/>
            <a:ext cx="146304" cy="146304"/>
          </a:xfrm>
          <a:prstGeom prst="ellipse">
            <a:avLst/>
          </a:prstGeom>
          <a:solidFill>
            <a:srgbClr val="006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4681728"/>
            <a:ext cx="627278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2146"/>
                </a:solidFill>
                <a:latin typeface="Segoe UI"/>
              </a:rPr>
              <a:t>Fail-closed  </a:t>
            </a:r>
            <a:r>
              <a:rPr sz="1500">
                <a:solidFill>
                  <a:srgbClr val="101A2E"/>
                </a:solidFill>
                <a:latin typeface="Segoe UI"/>
              </a:rPr>
              <a:t>no permission confirmation → no result, ever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5349240"/>
            <a:ext cx="146304" cy="146304"/>
          </a:xfrm>
          <a:prstGeom prst="ellipse">
            <a:avLst/>
          </a:prstGeom>
          <a:solidFill>
            <a:srgbClr val="006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5248656"/>
            <a:ext cx="627278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2146"/>
                </a:solidFill>
                <a:latin typeface="Segoe UI"/>
              </a:rPr>
              <a:t>Microsoft Entra ID  </a:t>
            </a:r>
            <a:r>
              <a:rPr sz="1500">
                <a:solidFill>
                  <a:srgbClr val="101A2E"/>
                </a:solidFill>
                <a:latin typeface="Segoe UI"/>
              </a:rPr>
              <a:t>enterprise single sign-on, no separate passwords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2011680"/>
            <a:ext cx="3657600" cy="3657600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9281160" y="2377440"/>
            <a:ext cx="822960" cy="822960"/>
          </a:xfrm>
          <a:prstGeom prst="hexagon">
            <a:avLst/>
          </a:prstGeom>
          <a:solidFill>
            <a:srgbClr val="006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338328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B2146"/>
                </a:solidFill>
                <a:latin typeface="Segoe UI"/>
              </a:rPr>
              <a:t>Double enforcement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886200"/>
            <a:ext cx="32918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5B6B82"/>
                </a:solidFill>
                <a:latin typeface="Segoe UI"/>
              </a:rPr>
              <a:t>Index-time access stamp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5B6B82"/>
                </a:solidFill>
                <a:latin typeface="Segoe UI"/>
              </a:rPr>
              <a:t>+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5B6B82"/>
                </a:solidFill>
                <a:latin typeface="Segoe UI"/>
              </a:rPr>
              <a:t>Query-time access re-check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5B6B82"/>
                </a:solidFill>
                <a:latin typeface="Segoe UI"/>
              </a:rPr>
              <a:t>=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5B6B82"/>
                </a:solidFill>
                <a:latin typeface="Segoe UI"/>
              </a:rPr>
              <a:t>zero over-sharing by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SubStrateOS · Microsoft Hackathon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OUR DIFFERENTIATOR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0B2146"/>
                </a:solidFill>
                <a:latin typeface="Segoe UI Light"/>
              </a:rPr>
              <a:t>Same question, the right answer for each person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1148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3736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5B6B82"/>
                </a:solidFill>
                <a:latin typeface="Segoe UI"/>
              </a:rPr>
              <a:t>A generic search returns one ranking for everyone. SubStrateOS reorders results around the person asking — their team, their work, their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834640"/>
            <a:ext cx="512064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834640"/>
            <a:ext cx="5120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88950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Maya — Engineering</a:t>
            </a:r>
          </a:p>
        </p:txBody>
      </p:sp>
      <p:sp>
        <p:nvSpPr>
          <p:cNvPr id="11" name="Oval 10"/>
          <p:cNvSpPr/>
          <p:nvPr/>
        </p:nvSpPr>
        <p:spPr>
          <a:xfrm>
            <a:off x="978407" y="3611880"/>
            <a:ext cx="384048" cy="38404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64845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363016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01A2E"/>
                </a:solidFill>
                <a:latin typeface="Segoe UI"/>
              </a:rPr>
              <a:t>On-call runbook</a:t>
            </a:r>
          </a:p>
        </p:txBody>
      </p:sp>
      <p:sp>
        <p:nvSpPr>
          <p:cNvPr id="14" name="Oval 13"/>
          <p:cNvSpPr/>
          <p:nvPr/>
        </p:nvSpPr>
        <p:spPr>
          <a:xfrm>
            <a:off x="978407" y="4178808"/>
            <a:ext cx="384048" cy="38404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21538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4197096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01A2E"/>
                </a:solidFill>
                <a:latin typeface="Segoe UI"/>
              </a:rPr>
              <a:t>Service alert guide</a:t>
            </a:r>
          </a:p>
        </p:txBody>
      </p:sp>
      <p:sp>
        <p:nvSpPr>
          <p:cNvPr id="17" name="Oval 16"/>
          <p:cNvSpPr/>
          <p:nvPr/>
        </p:nvSpPr>
        <p:spPr>
          <a:xfrm>
            <a:off x="978407" y="4745736"/>
            <a:ext cx="384048" cy="38404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78231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4764024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01A2E"/>
                </a:solidFill>
                <a:latin typeface="Segoe UI"/>
              </a:rPr>
              <a:t>Q3 ARR target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834640"/>
            <a:ext cx="512064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2834640"/>
            <a:ext cx="5120640" cy="548640"/>
          </a:xfrm>
          <a:prstGeom prst="round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88950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Raj — Finance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3611880"/>
            <a:ext cx="384048" cy="384048"/>
          </a:xfrm>
          <a:prstGeom prst="ellipse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9984" y="364845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63016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01A2E"/>
                </a:solidFill>
                <a:latin typeface="Segoe UI"/>
              </a:rPr>
              <a:t>Q3 ARR target</a:t>
            </a:r>
          </a:p>
        </p:txBody>
      </p:sp>
      <p:sp>
        <p:nvSpPr>
          <p:cNvPr id="26" name="Oval 25"/>
          <p:cNvSpPr/>
          <p:nvPr/>
        </p:nvSpPr>
        <p:spPr>
          <a:xfrm>
            <a:off x="6720840" y="4178808"/>
            <a:ext cx="384048" cy="384048"/>
          </a:xfrm>
          <a:prstGeom prst="ellipse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9984" y="421538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197096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01A2E"/>
                </a:solidFill>
                <a:latin typeface="Segoe UI"/>
              </a:rPr>
              <a:t>Revenue model</a:t>
            </a:r>
          </a:p>
        </p:txBody>
      </p:sp>
      <p:sp>
        <p:nvSpPr>
          <p:cNvPr id="29" name="Oval 28"/>
          <p:cNvSpPr/>
          <p:nvPr/>
        </p:nvSpPr>
        <p:spPr>
          <a:xfrm>
            <a:off x="6720840" y="4745736"/>
            <a:ext cx="384048" cy="384048"/>
          </a:xfrm>
          <a:prstGeom prst="ellipse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9984" y="478231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4764024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01A2E"/>
                </a:solidFill>
                <a:latin typeface="Segoe UI"/>
              </a:rPr>
              <a:t>On-call runbook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806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5B6B82"/>
                </a:solidFill>
                <a:latin typeface="Segoe UI"/>
              </a:rPr>
              <a:t>Identical query — ranking shaped by role, relationships, and real engagement.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SubStrateOS · Microsoft Hackathon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8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0884A"/>
                </a:solidFill>
                <a:latin typeface="Segoe UI"/>
              </a:rPr>
              <a:t>PROOF OF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0B2146"/>
                </a:solidFill>
                <a:latin typeface="Segoe UI Light"/>
              </a:rPr>
              <a:t>Already built and running on Azure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1148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10607040" cy="566928"/>
          </a:xfrm>
          <a:prstGeom prst="rect">
            <a:avLst/>
          </a:prstGeom>
          <a:solidFill>
            <a:srgbClr val="ECF2FB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21991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146"/>
                </a:solidFill>
                <a:latin typeface="Segoe UI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231136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01A2E"/>
                </a:solidFill>
                <a:latin typeface="Segoe UI"/>
              </a:rPr>
              <a:t>Grounded Q&amp;A with citations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2203703"/>
            <a:ext cx="1691640" cy="365760"/>
          </a:xfrm>
          <a:prstGeom prst="roundRect">
            <a:avLst/>
          </a:prstGeom>
          <a:solidFill>
            <a:srgbClr val="108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706624"/>
            <a:ext cx="10607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25496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146"/>
                </a:solidFill>
                <a:latin typeface="Segoe UI"/>
              </a:rPr>
              <a:t>Phase 2a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834640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01A2E"/>
                </a:solidFill>
                <a:latin typeface="Segoe UI"/>
              </a:rPr>
              <a:t>People graph + personalized ranking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2807208"/>
            <a:ext cx="1691640" cy="365760"/>
          </a:xfrm>
          <a:prstGeom prst="roundRect">
            <a:avLst/>
          </a:prstGeom>
          <a:solidFill>
            <a:srgbClr val="108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310128"/>
            <a:ext cx="10607040" cy="566928"/>
          </a:xfrm>
          <a:prstGeom prst="rect">
            <a:avLst/>
          </a:prstGeom>
          <a:solidFill>
            <a:srgbClr val="ECF2FB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4290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146"/>
                </a:solidFill>
                <a:latin typeface="Segoe UI"/>
              </a:rPr>
              <a:t>Phase 2b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438144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01A2E"/>
                </a:solidFill>
                <a:latin typeface="Segoe UI"/>
              </a:rPr>
              <a:t>Activity signals from real engagement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3410712"/>
            <a:ext cx="1691640" cy="365760"/>
          </a:xfrm>
          <a:prstGeom prst="roundRect">
            <a:avLst/>
          </a:prstGeom>
          <a:solidFill>
            <a:srgbClr val="108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913632"/>
            <a:ext cx="10607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03250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146"/>
                </a:solidFill>
                <a:latin typeface="Segoe UI"/>
              </a:rP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041648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01A2E"/>
                </a:solidFill>
                <a:latin typeface="Segoe UI"/>
              </a:rPr>
              <a:t>Live Fetch from Microsoft Graph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4014216"/>
            <a:ext cx="1691640" cy="365760"/>
          </a:xfrm>
          <a:prstGeom prst="roundRect">
            <a:avLst/>
          </a:prstGeom>
          <a:solidFill>
            <a:srgbClr val="108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517136"/>
            <a:ext cx="10607040" cy="566928"/>
          </a:xfrm>
          <a:prstGeom prst="rect">
            <a:avLst/>
          </a:prstGeom>
          <a:solidFill>
            <a:srgbClr val="ECF2FB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63600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146"/>
                </a:solidFill>
                <a:latin typeface="Segoe UI"/>
              </a:rPr>
              <a:t>Phase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645152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01A2E"/>
                </a:solidFill>
                <a:latin typeface="Segoe UI"/>
              </a:rPr>
              <a:t>Smarter planning, ranking &amp; ACL gating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60" y="4617720"/>
            <a:ext cx="1691640" cy="365760"/>
          </a:xfrm>
          <a:prstGeom prst="roundRect">
            <a:avLst/>
          </a:prstGeom>
          <a:solidFill>
            <a:srgbClr val="108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5120640"/>
            <a:ext cx="10607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23951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146"/>
                </a:solidFill>
                <a:latin typeface="Segoe UI"/>
              </a:rPr>
              <a:t>Connectors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248656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01A2E"/>
                </a:solidFill>
                <a:latin typeface="Segoe UI"/>
              </a:rPr>
              <a:t>SharePoint · Outlook · Teams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5221224"/>
            <a:ext cx="1691640" cy="365760"/>
          </a:xfrm>
          <a:prstGeom prst="roundRect">
            <a:avLst/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Code-complete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806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5B6B82"/>
                </a:solidFill>
                <a:latin typeface="Segoe UI"/>
              </a:rPr>
              <a:t>Quality is measured, not claimed: golden-question eval at 1.0 recall / 1.0 MRR on the Phase-1 baseline.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SubStrateOS · Microsoft Hackathon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B76E00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0B2146"/>
                </a:solidFill>
                <a:latin typeface="Segoe UI Light"/>
              </a:rPr>
              <a:t>Where it goes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1148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651760"/>
            <a:ext cx="3383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651760"/>
            <a:ext cx="3383280" cy="640080"/>
          </a:xfrm>
          <a:prstGeom prst="roundRect">
            <a:avLst/>
          </a:prstGeom>
          <a:solidFill>
            <a:srgbClr val="108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24912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520440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B6B82"/>
                </a:solidFill>
                <a:latin typeface="Segoe UI"/>
              </a:rPr>
              <a:t>Grounded Q&amp;A, personalization, live fetch — on Azure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51960" y="3840480"/>
            <a:ext cx="384048" cy="0"/>
          </a:xfrm>
          <a:prstGeom prst="line">
            <a:avLst/>
          </a:prstGeom>
          <a:ln w="31750">
            <a:solidFill>
              <a:srgbClr val="5B6B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636008" y="2651760"/>
            <a:ext cx="3383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36008" y="2651760"/>
            <a:ext cx="33832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0328" y="2724912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3520440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B6B82"/>
                </a:solidFill>
                <a:latin typeface="Segoe UI"/>
              </a:rPr>
              <a:t>Full connector rollout + Model Context Protocol for AI agents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19288" y="3840480"/>
            <a:ext cx="384048" cy="0"/>
          </a:xfrm>
          <a:prstGeom prst="line">
            <a:avLst/>
          </a:prstGeom>
          <a:ln w="31750">
            <a:solidFill>
              <a:srgbClr val="5B6B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403336" y="2651760"/>
            <a:ext cx="3383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03336" y="2651760"/>
            <a:ext cx="3383280" cy="640080"/>
          </a:xfrm>
          <a:prstGeom prst="roundRect">
            <a:avLst/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77656" y="2724912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Then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7656" y="3520440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B6B82"/>
                </a:solidFill>
                <a:latin typeface="Segoe UI"/>
              </a:rPr>
              <a:t>Per-user delegated access, API gateway, multi-tenant isolation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3949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5B6B82"/>
                </a:solidFill>
                <a:latin typeface="Segoe UI"/>
              </a:rPr>
              <a:t>Built monolith-first with clean module boundaries — each component can graduate into its own service with no rewrite.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SubStrateOS · Microsoft Hackathon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0B2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0A0E6"/>
                </a:solidFill>
                <a:latin typeface="Segoe UI"/>
              </a:rPr>
              <a:t>THE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Segoe UI Light"/>
              </a:rPr>
              <a:t>Every employee's questions,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Segoe UI Light"/>
              </a:rPr>
              <a:t>answered from your own knowledge 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Segoe UI Light"/>
              </a:rPr>
              <a:t>securely.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114800"/>
            <a:ext cx="2560320" cy="1371600"/>
          </a:xfrm>
          <a:prstGeom prst="roundRect">
            <a:avLst/>
          </a:prstGeom>
          <a:solidFill>
            <a:srgbClr val="0E294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29768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0B7C3"/>
                </a:solidFill>
                <a:latin typeface="Segoe UI Ligh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39" y="50292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Azure AI 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4114800"/>
            <a:ext cx="2560320" cy="1371600"/>
          </a:xfrm>
          <a:prstGeom prst="roundRect">
            <a:avLst/>
          </a:prstGeom>
          <a:solidFill>
            <a:srgbClr val="0E294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429768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0B7C3"/>
                </a:solidFill>
                <a:latin typeface="Segoe UI Light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50292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phases live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4114800"/>
            <a:ext cx="2560320" cy="1371600"/>
          </a:xfrm>
          <a:prstGeom prst="roundRect">
            <a:avLst/>
          </a:prstGeom>
          <a:solidFill>
            <a:srgbClr val="0E294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29768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0B7C3"/>
                </a:solidFill>
                <a:latin typeface="Segoe UI Light"/>
              </a:rP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0292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eval recall &amp; MRR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4114800"/>
            <a:ext cx="2560320" cy="1371600"/>
          </a:xfrm>
          <a:prstGeom prst="roundRect">
            <a:avLst/>
          </a:prstGeom>
          <a:solidFill>
            <a:srgbClr val="0E294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429768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0B7C3"/>
                </a:solidFill>
                <a:latin typeface="Segoe UI Light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50292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over-sharing by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0A0E6"/>
                </a:solidFill>
                <a:latin typeface="Segoe UI"/>
              </a:rPr>
              <a:t>SubStrateOS  ·  built on Microsoft Azure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